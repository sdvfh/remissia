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9" r:id="rId4"/>
    <p:sldId id="272" r:id="rId5"/>
    <p:sldId id="260" r:id="rId6"/>
    <p:sldId id="261" r:id="rId7"/>
    <p:sldId id="273" r:id="rId8"/>
    <p:sldId id="262" r:id="rId9"/>
    <p:sldId id="263" r:id="rId10"/>
    <p:sldId id="267" r:id="rId11"/>
    <p:sldId id="269" r:id="rId12"/>
    <p:sldId id="264" r:id="rId13"/>
    <p:sldId id="268" r:id="rId14"/>
    <p:sldId id="270" r:id="rId15"/>
    <p:sldId id="278" r:id="rId16"/>
    <p:sldId id="275" r:id="rId17"/>
    <p:sldId id="276" r:id="rId18"/>
    <p:sldId id="265" r:id="rId19"/>
    <p:sldId id="274" r:id="rId20"/>
    <p:sldId id="266" r:id="rId21"/>
    <p:sldId id="277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88" autoAdjust="0"/>
    <p:restoredTop sz="94660"/>
  </p:normalViewPr>
  <p:slideViewPr>
    <p:cSldViewPr snapToGrid="0">
      <p:cViewPr varScale="1">
        <p:scale>
          <a:sx n="74" d="100"/>
          <a:sy n="74" d="100"/>
        </p:scale>
        <p:origin x="474" y="66"/>
      </p:cViewPr>
      <p:guideLst>
        <p:guide orient="horz" pos="2160"/>
        <p:guide pos="386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28403" y="945913"/>
            <a:ext cx="8637073" cy="2618554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28404" y="3564467"/>
            <a:ext cx="8637072" cy="1071095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27124" y="329307"/>
            <a:ext cx="5943668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24392" y="134930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200"/>
            </a:lvl1pPr>
          </a:lstStyle>
          <a:p>
            <a:fld id="{48A87A34-81AB-432B-8DAE-1953F412C126}" type="datetimeFigureOut">
              <a:rPr lang="en-US" dirty="0"/>
              <a:pPr/>
              <a:t>5/1/2020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pic>
        <p:nvPicPr>
          <p:cNvPr id="24" name="Picture 23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9167" y="1756129"/>
            <a:ext cx="8619060" cy="2050065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129166" y="3806195"/>
            <a:ext cx="8619060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1052" y="958037"/>
            <a:ext cx="9605635" cy="1059305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9166" y="2165621"/>
            <a:ext cx="4645152" cy="329385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606" y="2171769"/>
            <a:ext cx="4645152" cy="328709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9166" y="953336"/>
            <a:ext cx="9607661" cy="1056319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9166" y="2169727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800" b="0" cap="none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9166" y="2974448"/>
            <a:ext cx="4645152" cy="249387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4337" y="2173181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800" b="0" cap="none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94337" y="2971669"/>
            <a:ext cx="4645152" cy="248719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pic>
        <p:nvPicPr>
          <p:cNvPr id="18" name="Picture 17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pic>
        <p:nvPicPr>
          <p:cNvPr id="14" name="Picture 13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4291" y="952578"/>
            <a:ext cx="3275013" cy="2322176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23334" y="952578"/>
            <a:ext cx="6012470" cy="4505221"/>
          </a:xfrm>
        </p:spPr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4291" y="3274754"/>
            <a:ext cx="3275013" cy="2178918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chemeClr val="tx1">
                    <a:lumMod val="85000"/>
                    <a:lumOff val="1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9124" y="1129513"/>
            <a:ext cx="5854872" cy="192420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8247" y="3053721"/>
            <a:ext cx="5846486" cy="2096013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125300" y="5469856"/>
            <a:ext cx="5849605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5/1/2020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25300" y="318640"/>
            <a:ext cx="4877818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176794" y="137408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pic>
        <p:nvPicPr>
          <p:cNvPr id="22" name="Picture 21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t="474" r="48549" b="36564"/>
          <a:stretch/>
        </p:blipFill>
        <p:spPr>
          <a:xfrm>
            <a:off x="1125460" y="643464"/>
            <a:ext cx="5879592" cy="155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pic>
        <p:nvPicPr>
          <p:cNvPr id="15" name="Picture 14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4709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30270" y="798973"/>
            <a:ext cx="7828830" cy="465988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pic>
        <p:nvPicPr>
          <p:cNvPr id="17" name="Picture 16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59215" b="36435"/>
          <a:stretch/>
        </p:blipFill>
        <p:spPr>
          <a:xfrm rot="5400000">
            <a:off x="8642279" y="3046916"/>
            <a:ext cx="4663440" cy="155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6119336"/>
            <a:ext cx="12192000" cy="74295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0" y="468769"/>
            <a:ext cx="12192000" cy="56470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  <a:lumMod val="100000"/>
                </a:schemeClr>
              </a:gs>
              <a:gs pos="100000">
                <a:schemeClr val="bg2">
                  <a:lumMod val="95000"/>
                  <a:lumOff val="5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/>
          <p:cNvCxnSpPr/>
          <p:nvPr/>
        </p:nvCxnSpPr>
        <p:spPr>
          <a:xfrm>
            <a:off x="0" y="6121269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30270" y="953324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30270" y="2171769"/>
            <a:ext cx="9603275" cy="32945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32830" y="330370"/>
            <a:ext cx="251539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5/1/2020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30270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18076" y="137408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9A83D9-6A3F-4E87-8634-E5F35B6101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8403" y="945913"/>
            <a:ext cx="9935193" cy="2618554"/>
          </a:xfrm>
        </p:spPr>
        <p:txBody>
          <a:bodyPr>
            <a:noAutofit/>
          </a:bodyPr>
          <a:lstStyle/>
          <a:p>
            <a:r>
              <a:rPr lang="pt-BR" sz="4400" b="1" dirty="0"/>
              <a:t>Predição da Expectativa de Vida de Pacientes Oncológicos através de Inteligência Artificial e Análise de Sobrevivência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35198CB-6432-4FE4-8F10-63DAC14402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8404" y="3976594"/>
            <a:ext cx="8637072" cy="1071095"/>
          </a:xfrm>
        </p:spPr>
        <p:txBody>
          <a:bodyPr>
            <a:normAutofit fontScale="92500" lnSpcReduction="10000"/>
          </a:bodyPr>
          <a:lstStyle/>
          <a:p>
            <a:r>
              <a:rPr lang="pt-BR" sz="2400" dirty="0"/>
              <a:t>Sérgio de Vasconcelos Filho – </a:t>
            </a:r>
            <a:r>
              <a:rPr lang="pt-BR" sz="2400" dirty="0" err="1"/>
              <a:t>svf</a:t>
            </a:r>
            <a:endParaRPr lang="pt-BR" sz="2400" dirty="0"/>
          </a:p>
          <a:p>
            <a:r>
              <a:rPr lang="pt-BR" sz="2400" dirty="0"/>
              <a:t>5° período de Engenharia Biomédica</a:t>
            </a:r>
          </a:p>
        </p:txBody>
      </p:sp>
    </p:spTree>
    <p:extLst>
      <p:ext uri="{BB962C8B-B14F-4D97-AF65-F5344CB8AC3E}">
        <p14:creationId xmlns:p14="http://schemas.microsoft.com/office/powerpoint/2010/main" val="756787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C8E588-4F86-4542-9E4B-46382AD9E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Roteiro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89760F-A0E6-4745-9A0C-6B481047F0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0271" y="2171769"/>
            <a:ext cx="4965730" cy="3294576"/>
          </a:xfrm>
        </p:spPr>
        <p:txBody>
          <a:bodyPr/>
          <a:lstStyle/>
          <a:p>
            <a:r>
              <a:rPr lang="pt-BR" dirty="0"/>
              <a:t>SEER </a:t>
            </a:r>
            <a:r>
              <a:rPr lang="pt-BR" dirty="0" err="1"/>
              <a:t>Database</a:t>
            </a:r>
            <a:endParaRPr lang="pt-BR" dirty="0"/>
          </a:p>
          <a:p>
            <a:r>
              <a:rPr lang="pt-BR" dirty="0"/>
              <a:t>Algoritmo planejado</a:t>
            </a:r>
          </a:p>
          <a:p>
            <a:r>
              <a:rPr lang="pt-BR" dirty="0"/>
              <a:t>Pré-processamento</a:t>
            </a:r>
          </a:p>
          <a:p>
            <a:pPr lvl="1"/>
            <a:r>
              <a:rPr lang="pt-BR" dirty="0"/>
              <a:t>Parte 1</a:t>
            </a:r>
          </a:p>
          <a:p>
            <a:pPr lvl="1"/>
            <a:r>
              <a:rPr lang="pt-BR" dirty="0"/>
              <a:t>Parte 2</a:t>
            </a:r>
          </a:p>
          <a:p>
            <a:pPr lvl="1"/>
            <a:r>
              <a:rPr lang="pt-BR" dirty="0"/>
              <a:t>Parte 3</a:t>
            </a:r>
          </a:p>
          <a:p>
            <a:pPr lvl="1"/>
            <a:r>
              <a:rPr lang="pt-BR" dirty="0"/>
              <a:t>Retoques</a:t>
            </a:r>
          </a:p>
          <a:p>
            <a:endParaRPr lang="pt-BR" dirty="0"/>
          </a:p>
        </p:txBody>
      </p:sp>
      <p:sp>
        <p:nvSpPr>
          <p:cNvPr id="9" name="Espaço Reservado para Conteúdo 2">
            <a:extLst>
              <a:ext uri="{FF2B5EF4-FFF2-40B4-BE49-F238E27FC236}">
                <a16:creationId xmlns:a16="http://schemas.microsoft.com/office/drawing/2014/main" id="{FC575B76-A955-4115-8494-54C104CEFDE4}"/>
              </a:ext>
            </a:extLst>
          </p:cNvPr>
          <p:cNvSpPr txBox="1">
            <a:spLocks/>
          </p:cNvSpPr>
          <p:nvPr/>
        </p:nvSpPr>
        <p:spPr>
          <a:xfrm>
            <a:off x="6095999" y="2171769"/>
            <a:ext cx="4965730" cy="329457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Treinamento do Algoritmo</a:t>
            </a:r>
          </a:p>
          <a:p>
            <a:r>
              <a:rPr lang="pt-BR" dirty="0"/>
              <a:t>Resultados Obtidos</a:t>
            </a:r>
          </a:p>
          <a:p>
            <a:r>
              <a:rPr lang="pt-BR" dirty="0"/>
              <a:t>Atividades Futuras</a:t>
            </a:r>
          </a:p>
        </p:txBody>
      </p:sp>
    </p:spTree>
    <p:extLst>
      <p:ext uri="{BB962C8B-B14F-4D97-AF65-F5344CB8AC3E}">
        <p14:creationId xmlns:p14="http://schemas.microsoft.com/office/powerpoint/2010/main" val="3811329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44BBBF-1384-47FE-B605-1C032B657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Surveillance</a:t>
            </a:r>
            <a:r>
              <a:rPr lang="pt-BR" dirty="0"/>
              <a:t>, </a:t>
            </a:r>
            <a:r>
              <a:rPr lang="pt-BR" dirty="0" err="1"/>
              <a:t>Epidemiology</a:t>
            </a:r>
            <a:r>
              <a:rPr lang="pt-BR" dirty="0"/>
              <a:t> </a:t>
            </a:r>
            <a:r>
              <a:rPr lang="pt-BR" dirty="0" err="1"/>
              <a:t>and</a:t>
            </a:r>
            <a:r>
              <a:rPr lang="pt-BR" dirty="0"/>
              <a:t> </a:t>
            </a:r>
            <a:r>
              <a:rPr lang="pt-BR" dirty="0" err="1"/>
              <a:t>End</a:t>
            </a:r>
            <a:r>
              <a:rPr lang="pt-BR" dirty="0"/>
              <a:t> </a:t>
            </a:r>
            <a:r>
              <a:rPr lang="pt-BR" dirty="0" err="1"/>
              <a:t>Results</a:t>
            </a:r>
            <a:r>
              <a:rPr lang="pt-BR" dirty="0"/>
              <a:t> </a:t>
            </a:r>
            <a:r>
              <a:rPr lang="pt-BR" dirty="0" err="1"/>
              <a:t>Program</a:t>
            </a:r>
            <a:r>
              <a:rPr lang="pt-BR" dirty="0"/>
              <a:t> - SEER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E20432F-B65A-4DDE-8118-384C85C277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Informações de tumores dos pacientes dos EUA;</a:t>
            </a:r>
          </a:p>
          <a:p>
            <a:r>
              <a:rPr lang="pt-BR" dirty="0"/>
              <a:t>Separados por sistema do corpo humano em 4 conjuntos de estados dos EUA;</a:t>
            </a:r>
          </a:p>
          <a:p>
            <a:r>
              <a:rPr lang="pt-BR" dirty="0"/>
              <a:t>156 variáveis.</a:t>
            </a:r>
          </a:p>
          <a:p>
            <a:pPr marL="0" indent="0">
              <a:buNone/>
            </a:pP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4DF4CBC-A628-4781-B544-A97B0141B9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2436" y="3641576"/>
            <a:ext cx="5288380" cy="1993979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91D422A6-A7DD-4C8F-B2B5-A51C02AF3D88}"/>
              </a:ext>
            </a:extLst>
          </p:cNvPr>
          <p:cNvSpPr txBox="1"/>
          <p:nvPr/>
        </p:nvSpPr>
        <p:spPr>
          <a:xfrm>
            <a:off x="1130270" y="4158227"/>
            <a:ext cx="249299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Mama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Colorretal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Digestório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Genital Feminino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Genital Masculino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296EA368-FAD9-456A-B550-1974F5467C45}"/>
              </a:ext>
            </a:extLst>
          </p:cNvPr>
          <p:cNvSpPr txBox="1"/>
          <p:nvPr/>
        </p:nvSpPr>
        <p:spPr>
          <a:xfrm>
            <a:off x="3544021" y="4164195"/>
            <a:ext cx="177805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Linfático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Respiratório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Urinário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Outros</a:t>
            </a:r>
          </a:p>
        </p:txBody>
      </p:sp>
    </p:spTree>
    <p:extLst>
      <p:ext uri="{BB962C8B-B14F-4D97-AF65-F5344CB8AC3E}">
        <p14:creationId xmlns:p14="http://schemas.microsoft.com/office/powerpoint/2010/main" val="2638456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500"/>
                            </p:stCondLst>
                            <p:childTnLst>
                              <p:par>
                                <p:cTn id="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FFDFC8-31D5-4A55-9791-D07927C23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planejado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A6F76E8E-656E-4450-8364-126EF4EFF1DD}"/>
              </a:ext>
            </a:extLst>
          </p:cNvPr>
          <p:cNvSpPr/>
          <p:nvPr/>
        </p:nvSpPr>
        <p:spPr>
          <a:xfrm>
            <a:off x="2269821" y="2965200"/>
            <a:ext cx="895503" cy="89550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621D9BA8-9BFE-436D-8E2D-B3FEBABF2665}"/>
              </a:ext>
            </a:extLst>
          </p:cNvPr>
          <p:cNvSpPr/>
          <p:nvPr/>
        </p:nvSpPr>
        <p:spPr>
          <a:xfrm>
            <a:off x="2269821" y="4556210"/>
            <a:ext cx="895503" cy="89550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331689BE-3670-4542-8716-74E44BB73433}"/>
              </a:ext>
            </a:extLst>
          </p:cNvPr>
          <p:cNvSpPr/>
          <p:nvPr/>
        </p:nvSpPr>
        <p:spPr>
          <a:xfrm>
            <a:off x="5684761" y="2981248"/>
            <a:ext cx="895503" cy="89550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1" name="Conector de Seta Reta 30">
            <a:extLst>
              <a:ext uri="{FF2B5EF4-FFF2-40B4-BE49-F238E27FC236}">
                <a16:creationId xmlns:a16="http://schemas.microsoft.com/office/drawing/2014/main" id="{18551419-D339-4F7C-9F4E-D7A1835FBB7E}"/>
              </a:ext>
            </a:extLst>
          </p:cNvPr>
          <p:cNvCxnSpPr>
            <a:stCxn id="4" idx="6"/>
            <a:endCxn id="6" idx="2"/>
          </p:cNvCxnSpPr>
          <p:nvPr/>
        </p:nvCxnSpPr>
        <p:spPr>
          <a:xfrm>
            <a:off x="3165324" y="3412952"/>
            <a:ext cx="2519437" cy="16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Conector de Seta Reta 32">
            <a:extLst>
              <a:ext uri="{FF2B5EF4-FFF2-40B4-BE49-F238E27FC236}">
                <a16:creationId xmlns:a16="http://schemas.microsoft.com/office/drawing/2014/main" id="{0CC54E90-047F-4583-8829-C5AF7A44BFEC}"/>
              </a:ext>
            </a:extLst>
          </p:cNvPr>
          <p:cNvCxnSpPr>
            <a:stCxn id="5" idx="6"/>
            <a:endCxn id="6" idx="2"/>
          </p:cNvCxnSpPr>
          <p:nvPr/>
        </p:nvCxnSpPr>
        <p:spPr>
          <a:xfrm flipV="1">
            <a:off x="3165324" y="3429000"/>
            <a:ext cx="2519437" cy="15749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2D192114-7E82-4149-9655-417A61B31066}"/>
              </a:ext>
            </a:extLst>
          </p:cNvPr>
          <p:cNvSpPr txBox="1"/>
          <p:nvPr/>
        </p:nvSpPr>
        <p:spPr>
          <a:xfrm>
            <a:off x="95828" y="4680795"/>
            <a:ext cx="21739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Análise estatística</a:t>
            </a:r>
          </a:p>
          <a:p>
            <a:r>
              <a:rPr lang="pt-BR" dirty="0"/>
              <a:t>de sobrevivência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AE32A627-CDDA-4D51-940B-2340B191CC0F}"/>
              </a:ext>
            </a:extLst>
          </p:cNvPr>
          <p:cNvSpPr txBox="1"/>
          <p:nvPr/>
        </p:nvSpPr>
        <p:spPr>
          <a:xfrm>
            <a:off x="929593" y="3244334"/>
            <a:ext cx="13195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Específico</a:t>
            </a: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5020825B-4F8B-469C-B1A4-88E7BEA70C10}"/>
              </a:ext>
            </a:extLst>
          </p:cNvPr>
          <p:cNvSpPr txBox="1"/>
          <p:nvPr/>
        </p:nvSpPr>
        <p:spPr>
          <a:xfrm>
            <a:off x="5127317" y="2452802"/>
            <a:ext cx="21643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Metaclassificador</a:t>
            </a:r>
            <a:endParaRPr lang="pt-BR" dirty="0"/>
          </a:p>
        </p:txBody>
      </p:sp>
      <p:sp>
        <p:nvSpPr>
          <p:cNvPr id="53" name="Elipse 52">
            <a:extLst>
              <a:ext uri="{FF2B5EF4-FFF2-40B4-BE49-F238E27FC236}">
                <a16:creationId xmlns:a16="http://schemas.microsoft.com/office/drawing/2014/main" id="{C18ED8D0-2FD1-46B6-9BD9-0ED47DB39BE7}"/>
              </a:ext>
            </a:extLst>
          </p:cNvPr>
          <p:cNvSpPr/>
          <p:nvPr/>
        </p:nvSpPr>
        <p:spPr>
          <a:xfrm>
            <a:off x="2269822" y="1625842"/>
            <a:ext cx="895503" cy="89550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90E1C3AB-4479-4212-8A55-8986EF4D5CB9}"/>
              </a:ext>
            </a:extLst>
          </p:cNvPr>
          <p:cNvSpPr txBox="1"/>
          <p:nvPr/>
        </p:nvSpPr>
        <p:spPr>
          <a:xfrm>
            <a:off x="1459985" y="1900361"/>
            <a:ext cx="809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Geral</a:t>
            </a:r>
          </a:p>
        </p:txBody>
      </p:sp>
      <p:cxnSp>
        <p:nvCxnSpPr>
          <p:cNvPr id="62" name="Conector de Seta Reta 61">
            <a:extLst>
              <a:ext uri="{FF2B5EF4-FFF2-40B4-BE49-F238E27FC236}">
                <a16:creationId xmlns:a16="http://schemas.microsoft.com/office/drawing/2014/main" id="{29C64758-2E56-49B2-9C96-C39DB0F56B0B}"/>
              </a:ext>
            </a:extLst>
          </p:cNvPr>
          <p:cNvCxnSpPr>
            <a:stCxn id="53" idx="6"/>
            <a:endCxn id="6" idx="2"/>
          </p:cNvCxnSpPr>
          <p:nvPr/>
        </p:nvCxnSpPr>
        <p:spPr>
          <a:xfrm>
            <a:off x="3165325" y="2073594"/>
            <a:ext cx="2519436" cy="13554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Conector de Seta Reta 68">
            <a:extLst>
              <a:ext uri="{FF2B5EF4-FFF2-40B4-BE49-F238E27FC236}">
                <a16:creationId xmlns:a16="http://schemas.microsoft.com/office/drawing/2014/main" id="{A18BA9D0-3FCA-46A8-8E8B-7D95F65D8D33}"/>
              </a:ext>
            </a:extLst>
          </p:cNvPr>
          <p:cNvCxnSpPr>
            <a:cxnSpLocks/>
            <a:stCxn id="6" idx="6"/>
          </p:cNvCxnSpPr>
          <p:nvPr/>
        </p:nvCxnSpPr>
        <p:spPr>
          <a:xfrm flipV="1">
            <a:off x="6580264" y="3428999"/>
            <a:ext cx="193267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CaixaDeTexto 71">
            <a:extLst>
              <a:ext uri="{FF2B5EF4-FFF2-40B4-BE49-F238E27FC236}">
                <a16:creationId xmlns:a16="http://schemas.microsoft.com/office/drawing/2014/main" id="{E337B6A3-EFF2-41D1-9919-4E5729EFE1DB}"/>
              </a:ext>
            </a:extLst>
          </p:cNvPr>
          <p:cNvSpPr txBox="1"/>
          <p:nvPr/>
        </p:nvSpPr>
        <p:spPr>
          <a:xfrm>
            <a:off x="8615966" y="3105834"/>
            <a:ext cx="34483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Expectativa de vida &gt; 5 anos</a:t>
            </a:r>
          </a:p>
          <a:p>
            <a:pPr algn="ctr"/>
            <a:r>
              <a:rPr lang="pt-BR" dirty="0"/>
              <a:t>ou não (binário)</a:t>
            </a:r>
          </a:p>
        </p:txBody>
      </p:sp>
    </p:spTree>
    <p:extLst>
      <p:ext uri="{BB962C8B-B14F-4D97-AF65-F5344CB8AC3E}">
        <p14:creationId xmlns:p14="http://schemas.microsoft.com/office/powerpoint/2010/main" val="2280815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500"/>
                            </p:stCondLst>
                            <p:childTnLst>
                              <p:par>
                                <p:cTn id="4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5" grpId="0" animBg="1"/>
      <p:bldP spid="6" grpId="0" animBg="1"/>
      <p:bldP spid="44" grpId="0"/>
      <p:bldP spid="45" grpId="0"/>
      <p:bldP spid="46" grpId="0"/>
      <p:bldP spid="53" grpId="0" animBg="1"/>
      <p:bldP spid="56" grpId="0"/>
      <p:bldP spid="7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E67D7A-FF00-4EEA-8B66-D3A92A4CA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Pré-processamento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02602CB-61B4-4007-89C5-CC279299C6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Parte 1: divisão da base nas colunas equivalentes;</a:t>
            </a:r>
          </a:p>
          <a:p>
            <a:pPr marL="0" indent="0">
              <a:buNone/>
            </a:pPr>
            <a:endParaRPr lang="pt-BR" dirty="0"/>
          </a:p>
          <a:p>
            <a:r>
              <a:rPr lang="pt-BR" dirty="0"/>
              <a:t>Parte 2:  transformação das colunas de mesmo tópico para a mesma codificação;</a:t>
            </a:r>
          </a:p>
          <a:p>
            <a:pPr marL="0" indent="0">
              <a:buNone/>
            </a:pPr>
            <a:endParaRPr lang="pt-BR" dirty="0"/>
          </a:p>
          <a:p>
            <a:r>
              <a:rPr lang="pt-BR" dirty="0"/>
              <a:t>Parte 3: junção das colunas de mesmo tópico.</a:t>
            </a:r>
          </a:p>
        </p:txBody>
      </p:sp>
    </p:spTree>
    <p:extLst>
      <p:ext uri="{BB962C8B-B14F-4D97-AF65-F5344CB8AC3E}">
        <p14:creationId xmlns:p14="http://schemas.microsoft.com/office/powerpoint/2010/main" val="2881718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3D820D-5276-4F8D-9619-99B4D9A25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Pré-processamento – Parte 1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31CC0E6-40E9-493E-A7FC-D350123763F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963" t="21770" r="11963" b="35956"/>
          <a:stretch/>
        </p:blipFill>
        <p:spPr>
          <a:xfrm>
            <a:off x="427890" y="1893195"/>
            <a:ext cx="11336220" cy="3541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845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3D820D-5276-4F8D-9619-99B4D9A25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Pré-processamento – Parte 1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376CD544-AA32-4061-9E93-F63EB5DA839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702" t="21958" r="39787" b="44235"/>
          <a:stretch/>
        </p:blipFill>
        <p:spPr>
          <a:xfrm>
            <a:off x="1204891" y="1655433"/>
            <a:ext cx="9454032" cy="4037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514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10D081-3C5B-4D47-8CE5-38447C88C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Pré-processamento – Parte 2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53A7E50-D01B-4C8A-A704-7BAD37081E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Classificação TNM.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F2A2963-08F4-4CAE-908B-5A72008EAF2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303" t="47698" r="55211" b="6457"/>
          <a:stretch/>
        </p:blipFill>
        <p:spPr>
          <a:xfrm>
            <a:off x="8577331" y="1600231"/>
            <a:ext cx="2975020" cy="4148026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3F267130-C400-4BFB-9A00-D21AA953701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8521" t="20278" r="51408" b="37306"/>
          <a:stretch/>
        </p:blipFill>
        <p:spPr>
          <a:xfrm>
            <a:off x="4661599" y="1600231"/>
            <a:ext cx="3456982" cy="4107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5414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FC2DF6-2642-4FAE-93EC-20FF310CC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Pré-processamento – Parte 3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922E965-2256-4029-900F-46ECAB4723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Junção de um total de 31 colunas em 7 colunas agregadas;</a:t>
            </a:r>
          </a:p>
          <a:p>
            <a:pPr marL="0" indent="0">
              <a:buNone/>
            </a:pPr>
            <a:endParaRPr lang="pt-BR" dirty="0"/>
          </a:p>
          <a:p>
            <a:r>
              <a:rPr lang="pt-BR" dirty="0"/>
              <a:t>Diminuição do número de nulos de coluna com um mesmo tipo de informação.</a:t>
            </a:r>
          </a:p>
        </p:txBody>
      </p:sp>
    </p:spTree>
    <p:extLst>
      <p:ext uri="{BB962C8B-B14F-4D97-AF65-F5344CB8AC3E}">
        <p14:creationId xmlns:p14="http://schemas.microsoft.com/office/powerpoint/2010/main" val="1672354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FC2DF6-2642-4FAE-93EC-20FF310CC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Pré-processamento – Retoques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922E965-2256-4029-900F-46ECAB4723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Pacientes considerados vivos mas que constam 0 mês de sobrevivência;</a:t>
            </a:r>
          </a:p>
          <a:p>
            <a:r>
              <a:rPr lang="pt-BR" dirty="0"/>
              <a:t>8 colunas relacionadas à realização de cirurgia;</a:t>
            </a:r>
          </a:p>
          <a:p>
            <a:r>
              <a:rPr lang="pt-BR" dirty="0"/>
              <a:t>2 colunas com informações repetidas;</a:t>
            </a:r>
          </a:p>
          <a:p>
            <a:r>
              <a:rPr lang="pt-BR" dirty="0"/>
              <a:t>6 colunas relacionadas ao óbito;</a:t>
            </a:r>
          </a:p>
          <a:p>
            <a:r>
              <a:rPr lang="pt-BR" dirty="0"/>
              <a:t>3 colunas com informações de versão de codificações;</a:t>
            </a:r>
          </a:p>
          <a:p>
            <a:r>
              <a:rPr lang="pt-BR" dirty="0"/>
              <a:t>4 colunas relacionadas à tratamento com radiação ionizante.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76827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FC2DF6-2642-4FAE-93EC-20FF310CC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Pré-processamento – Variáveis Categóricas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922E965-2256-4029-900F-46ECAB4723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err="1"/>
              <a:t>CatBoost</a:t>
            </a:r>
            <a:endParaRPr lang="pt-BR" dirty="0"/>
          </a:p>
          <a:p>
            <a:pPr lvl="1"/>
            <a:r>
              <a:rPr lang="pt-BR" dirty="0"/>
              <a:t>Análise de estatística avançada;</a:t>
            </a:r>
          </a:p>
          <a:p>
            <a:pPr lvl="1"/>
            <a:r>
              <a:rPr lang="pt-BR" dirty="0"/>
              <a:t>Baseado na teoria de </a:t>
            </a:r>
            <a:r>
              <a:rPr lang="pt-BR" dirty="0" err="1"/>
              <a:t>Bayes</a:t>
            </a:r>
            <a:r>
              <a:rPr lang="pt-BR" dirty="0"/>
              <a:t>;</a:t>
            </a:r>
          </a:p>
          <a:p>
            <a:pPr lvl="1"/>
            <a:r>
              <a:rPr lang="pt-BR" dirty="0"/>
              <a:t>Transformação em “probabilidades”.</a:t>
            </a:r>
          </a:p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FE698B6-7DDD-4FF3-9285-9CE0E38E61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6857" y="3190739"/>
            <a:ext cx="6976056" cy="2092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906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0BE7BB-E8DC-4A7F-8AAC-9B79277D1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Treinamento do Algoritmo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C4C3ABA-0951-471D-84F0-E702DAFAA0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err="1"/>
              <a:t>Xgboost</a:t>
            </a:r>
            <a:r>
              <a:rPr lang="pt-BR" dirty="0"/>
              <a:t> com GPU</a:t>
            </a:r>
          </a:p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64A0D48-298F-4F51-A883-1288D597D4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137" y="3772642"/>
            <a:ext cx="4841201" cy="1862913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2B2B1A15-1D59-4A56-93CF-50A35D01A7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7864" y="2785299"/>
            <a:ext cx="6272999" cy="2850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754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0BE7BB-E8DC-4A7F-8AAC-9B79277D1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Treinamento do Algoritmo - </a:t>
            </a:r>
            <a:r>
              <a:rPr lang="pt-BR" dirty="0" err="1"/>
              <a:t>Hiperparâmetros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C4C3ABA-0951-471D-84F0-E702DAFAA0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Escolha das colunas com no máximo X % de nulos;</a:t>
            </a:r>
          </a:p>
          <a:p>
            <a:r>
              <a:rPr lang="pt-BR" dirty="0"/>
              <a:t>Uso ou não de apenas tumores com classificação TNM;</a:t>
            </a:r>
          </a:p>
          <a:p>
            <a:r>
              <a:rPr lang="pt-BR" dirty="0"/>
              <a:t>2 </a:t>
            </a:r>
            <a:r>
              <a:rPr lang="pt-BR" dirty="0" err="1"/>
              <a:t>hiperparâmetros</a:t>
            </a:r>
            <a:r>
              <a:rPr lang="pt-BR" dirty="0"/>
              <a:t> do </a:t>
            </a:r>
            <a:r>
              <a:rPr lang="pt-BR" dirty="0" err="1"/>
              <a:t>CatBoost</a:t>
            </a:r>
            <a:r>
              <a:rPr lang="pt-BR" dirty="0"/>
              <a:t>;</a:t>
            </a:r>
          </a:p>
          <a:p>
            <a:r>
              <a:rPr lang="pt-BR" dirty="0"/>
              <a:t>12 </a:t>
            </a:r>
            <a:r>
              <a:rPr lang="pt-BR" dirty="0" err="1"/>
              <a:t>hiperparâmetros</a:t>
            </a:r>
            <a:r>
              <a:rPr lang="pt-BR" dirty="0"/>
              <a:t> do </a:t>
            </a:r>
            <a:r>
              <a:rPr lang="pt-BR" dirty="0" err="1"/>
              <a:t>Xgboost</a:t>
            </a:r>
            <a:r>
              <a:rPr lang="pt-BR" dirty="0"/>
              <a:t>;</a:t>
            </a:r>
          </a:p>
          <a:p>
            <a:r>
              <a:rPr lang="pt-BR" sz="2400" b="1" dirty="0"/>
              <a:t>Total: 14 </a:t>
            </a:r>
            <a:r>
              <a:rPr lang="pt-BR" sz="2400" b="1" dirty="0" err="1"/>
              <a:t>hiperparâmetros</a:t>
            </a:r>
            <a:r>
              <a:rPr lang="pt-BR" sz="2400" b="1" dirty="0"/>
              <a:t> variados.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50166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0BE7BB-E8DC-4A7F-8AAC-9B79277D1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Treinamento do Algoritmo - </a:t>
            </a:r>
            <a:r>
              <a:rPr lang="pt-BR" dirty="0" err="1"/>
              <a:t>Hiperparâmetros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C4C3ABA-0951-471D-84F0-E702DAFAA0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Otimização </a:t>
            </a:r>
            <a:r>
              <a:rPr lang="pt-BR" dirty="0" err="1"/>
              <a:t>Bayseana</a:t>
            </a:r>
            <a:r>
              <a:rPr lang="pt-BR" dirty="0"/>
              <a:t>;</a:t>
            </a:r>
          </a:p>
          <a:p>
            <a:pPr lvl="1"/>
            <a:r>
              <a:rPr lang="pt-BR" dirty="0"/>
              <a:t>Baseado na teoria de </a:t>
            </a:r>
            <a:r>
              <a:rPr lang="pt-BR" dirty="0" err="1"/>
              <a:t>Bayes</a:t>
            </a:r>
            <a:r>
              <a:rPr lang="pt-BR" dirty="0"/>
              <a:t>;</a:t>
            </a:r>
          </a:p>
          <a:p>
            <a:endParaRPr lang="pt-BR" dirty="0"/>
          </a:p>
          <a:p>
            <a:r>
              <a:rPr lang="pt-BR" dirty="0"/>
              <a:t>Busca do conjunto de </a:t>
            </a:r>
            <a:r>
              <a:rPr lang="pt-BR" dirty="0" err="1"/>
              <a:t>hiperparâmetros</a:t>
            </a:r>
            <a:r>
              <a:rPr lang="pt-BR" dirty="0"/>
              <a:t> com maior AUCROC.</a:t>
            </a:r>
          </a:p>
        </p:txBody>
      </p:sp>
    </p:spTree>
    <p:extLst>
      <p:ext uri="{BB962C8B-B14F-4D97-AF65-F5344CB8AC3E}">
        <p14:creationId xmlns:p14="http://schemas.microsoft.com/office/powerpoint/2010/main" val="3051537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0BE7BB-E8DC-4A7F-8AAC-9B79277D1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Treinamento do Algoritmo - </a:t>
            </a:r>
            <a:r>
              <a:rPr lang="pt-BR" dirty="0" err="1"/>
              <a:t>Hiperparâmetros</a:t>
            </a: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478F8FC-5930-48B2-A67B-0DF3F4B84E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524" y="1723351"/>
            <a:ext cx="9156879" cy="4852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067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F64875-F88C-403C-8A53-9ADCFC019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Resultados Obtidos – Algoritmo Geral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FE04A172-EDF8-489F-BFD2-EF97E993F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/>
        </p:blipFill>
        <p:spPr bwMode="auto">
          <a:xfrm>
            <a:off x="6085289" y="1844133"/>
            <a:ext cx="5294581" cy="3730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2DE31A32-5D3A-4583-B845-D782D20FF1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291518" y="1844111"/>
            <a:ext cx="5249922" cy="3698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8212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F64875-F88C-403C-8A53-9ADCFC019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Resultados Obtidos – Algoritmo Geral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22553102-8D62-48B9-AEDD-3773F9631BA6}"/>
              </a:ext>
            </a:extLst>
          </p:cNvPr>
          <p:cNvSpPr/>
          <p:nvPr/>
        </p:nvSpPr>
        <p:spPr>
          <a:xfrm>
            <a:off x="6289882" y="2142409"/>
            <a:ext cx="1888203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000" dirty="0"/>
              <a:t>Acurácia:</a:t>
            </a:r>
          </a:p>
          <a:p>
            <a:r>
              <a:rPr lang="pt-BR" sz="2000" dirty="0"/>
              <a:t>Precisão:</a:t>
            </a:r>
          </a:p>
          <a:p>
            <a:r>
              <a:rPr lang="pt-BR" sz="2000" dirty="0" err="1"/>
              <a:t>Revocação</a:t>
            </a:r>
            <a:r>
              <a:rPr lang="pt-BR" sz="2000" dirty="0"/>
              <a:t>:</a:t>
            </a:r>
          </a:p>
          <a:p>
            <a:r>
              <a:rPr lang="pt-BR" sz="2000" dirty="0"/>
              <a:t>F1:</a:t>
            </a:r>
          </a:p>
          <a:p>
            <a:r>
              <a:rPr lang="pt-BR" sz="2000" dirty="0"/>
              <a:t>AUROC:</a:t>
            </a:r>
          </a:p>
          <a:p>
            <a:r>
              <a:rPr lang="pt-BR" sz="2000" dirty="0"/>
              <a:t>AUPR: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66E54E2A-1299-436E-AFE1-FA91D926367A}"/>
              </a:ext>
            </a:extLst>
          </p:cNvPr>
          <p:cNvSpPr/>
          <p:nvPr/>
        </p:nvSpPr>
        <p:spPr>
          <a:xfrm>
            <a:off x="8178085" y="2142409"/>
            <a:ext cx="3384974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000" dirty="0"/>
              <a:t>95.35 %</a:t>
            </a:r>
          </a:p>
          <a:p>
            <a:r>
              <a:rPr lang="pt-BR" sz="2000" dirty="0"/>
              <a:t>92.84 %</a:t>
            </a:r>
          </a:p>
          <a:p>
            <a:r>
              <a:rPr lang="pt-BR" sz="2000" dirty="0"/>
              <a:t>98.27 %</a:t>
            </a:r>
          </a:p>
          <a:p>
            <a:r>
              <a:rPr lang="pt-BR" sz="2000" dirty="0"/>
              <a:t>95.48 %</a:t>
            </a:r>
          </a:p>
          <a:p>
            <a:r>
              <a:rPr lang="pt-BR" sz="2000" dirty="0"/>
              <a:t>97.22 %</a:t>
            </a:r>
          </a:p>
          <a:p>
            <a:r>
              <a:rPr lang="pt-BR" sz="2000" dirty="0"/>
              <a:t>95.12 %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AD800268-6A93-4678-ADE5-D6833105C3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/>
        </p:blipFill>
        <p:spPr bwMode="auto">
          <a:xfrm>
            <a:off x="432629" y="1778404"/>
            <a:ext cx="4575797" cy="4057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489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F64875-F88C-403C-8A53-9ADCFC019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Resultados Obtidos – Algoritmo para Mama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4483396-8602-4CBD-BB88-EEF3333692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/>
        </p:blipFill>
        <p:spPr bwMode="auto">
          <a:xfrm>
            <a:off x="565307" y="1844134"/>
            <a:ext cx="5294580" cy="3730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63AD9CD3-1280-4B1A-9E7F-765A067735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6332113" y="1844134"/>
            <a:ext cx="5294580" cy="3730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2969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F64875-F88C-403C-8A53-9ADCFC019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Resultados Obtidos – Algoritmo para Mama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7605277C-C32F-46DA-8A76-627885825A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/>
        </p:blipFill>
        <p:spPr bwMode="auto">
          <a:xfrm>
            <a:off x="412246" y="1647272"/>
            <a:ext cx="4673421" cy="4143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22553102-8D62-48B9-AEDD-3773F9631BA6}"/>
              </a:ext>
            </a:extLst>
          </p:cNvPr>
          <p:cNvSpPr/>
          <p:nvPr/>
        </p:nvSpPr>
        <p:spPr>
          <a:xfrm>
            <a:off x="6289882" y="2142409"/>
            <a:ext cx="1888203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000" dirty="0"/>
              <a:t>Acurácia:</a:t>
            </a:r>
          </a:p>
          <a:p>
            <a:r>
              <a:rPr lang="pt-BR" sz="2000" dirty="0"/>
              <a:t>Precisão:</a:t>
            </a:r>
          </a:p>
          <a:p>
            <a:r>
              <a:rPr lang="pt-BR" sz="2000" dirty="0" err="1"/>
              <a:t>Revocação</a:t>
            </a:r>
            <a:r>
              <a:rPr lang="pt-BR" sz="2000" dirty="0"/>
              <a:t>:</a:t>
            </a:r>
          </a:p>
          <a:p>
            <a:r>
              <a:rPr lang="pt-BR" sz="2000" dirty="0"/>
              <a:t>F1:</a:t>
            </a:r>
          </a:p>
          <a:p>
            <a:r>
              <a:rPr lang="pt-BR" sz="2000" dirty="0"/>
              <a:t>AUROC:</a:t>
            </a:r>
          </a:p>
          <a:p>
            <a:r>
              <a:rPr lang="pt-BR" sz="2000" dirty="0"/>
              <a:t>AUPR: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66E54E2A-1299-436E-AFE1-FA91D926367A}"/>
              </a:ext>
            </a:extLst>
          </p:cNvPr>
          <p:cNvSpPr/>
          <p:nvPr/>
        </p:nvSpPr>
        <p:spPr>
          <a:xfrm>
            <a:off x="8178085" y="2142409"/>
            <a:ext cx="3384974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000" dirty="0"/>
              <a:t>95.59 %</a:t>
            </a:r>
          </a:p>
          <a:p>
            <a:r>
              <a:rPr lang="pt-BR" sz="2000" dirty="0"/>
              <a:t>92.76 %</a:t>
            </a:r>
          </a:p>
          <a:p>
            <a:r>
              <a:rPr lang="pt-BR" sz="2000" dirty="0"/>
              <a:t>98.90 %</a:t>
            </a:r>
          </a:p>
          <a:p>
            <a:r>
              <a:rPr lang="pt-BR" sz="2000" dirty="0"/>
              <a:t>95.73 %</a:t>
            </a:r>
          </a:p>
          <a:p>
            <a:r>
              <a:rPr lang="pt-BR" sz="2000" dirty="0"/>
              <a:t>97.55 %</a:t>
            </a:r>
          </a:p>
          <a:p>
            <a:r>
              <a:rPr lang="pt-BR" sz="2000" dirty="0"/>
              <a:t>95.93 %</a:t>
            </a:r>
          </a:p>
        </p:txBody>
      </p:sp>
    </p:spTree>
    <p:extLst>
      <p:ext uri="{BB962C8B-B14F-4D97-AF65-F5344CB8AC3E}">
        <p14:creationId xmlns:p14="http://schemas.microsoft.com/office/powerpoint/2010/main" val="970159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8F115F-FC6C-448D-AD6E-08720203C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Atividades Futuras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E53ABCE-4962-4F7E-BE61-FEE0ED10C8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Treinamento dos outros modelos;</a:t>
            </a:r>
          </a:p>
          <a:p>
            <a:r>
              <a:rPr lang="pt-BR" dirty="0"/>
              <a:t>Treinamento do </a:t>
            </a:r>
            <a:r>
              <a:rPr lang="pt-BR" dirty="0" err="1"/>
              <a:t>metaclassificador</a:t>
            </a:r>
            <a:r>
              <a:rPr lang="pt-BR" dirty="0"/>
              <a:t>;</a:t>
            </a:r>
          </a:p>
          <a:p>
            <a:r>
              <a:rPr lang="pt-BR" dirty="0"/>
              <a:t>Uso da análise de sobrevivência;</a:t>
            </a:r>
          </a:p>
          <a:p>
            <a:r>
              <a:rPr lang="pt-BR" dirty="0"/>
              <a:t>Estudo teórico das ferramentas utilizadas;</a:t>
            </a:r>
          </a:p>
          <a:p>
            <a:r>
              <a:rPr lang="pt-BR" dirty="0"/>
              <a:t>Escrita do artigo.</a:t>
            </a:r>
          </a:p>
        </p:txBody>
      </p:sp>
    </p:spTree>
    <p:extLst>
      <p:ext uri="{BB962C8B-B14F-4D97-AF65-F5344CB8AC3E}">
        <p14:creationId xmlns:p14="http://schemas.microsoft.com/office/powerpoint/2010/main" val="2850485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E652EE-5CDB-4347-AB3A-DBF5EBE98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362" y="2904382"/>
            <a:ext cx="9603275" cy="1049235"/>
          </a:xfrm>
        </p:spPr>
        <p:txBody>
          <a:bodyPr>
            <a:normAutofit/>
          </a:bodyPr>
          <a:lstStyle/>
          <a:p>
            <a:pPr algn="ctr"/>
            <a:r>
              <a:rPr lang="pt-BR" sz="6600" dirty="0"/>
              <a:t>Obrigado!</a:t>
            </a:r>
          </a:p>
        </p:txBody>
      </p:sp>
    </p:spTree>
    <p:extLst>
      <p:ext uri="{BB962C8B-B14F-4D97-AF65-F5344CB8AC3E}">
        <p14:creationId xmlns:p14="http://schemas.microsoft.com/office/powerpoint/2010/main" val="906446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Galeria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CDCE0"/>
      </a:lt2>
      <a:accent1>
        <a:srgbClr val="415588"/>
      </a:accent1>
      <a:accent2>
        <a:srgbClr val="4294B6"/>
      </a:accent2>
      <a:accent3>
        <a:srgbClr val="087D7C"/>
      </a:accent3>
      <a:accent4>
        <a:srgbClr val="2CB663"/>
      </a:accent4>
      <a:accent5>
        <a:srgbClr val="DF8822"/>
      </a:accent5>
      <a:accent6>
        <a:srgbClr val="BC410A"/>
      </a:accent6>
      <a:hlink>
        <a:srgbClr val="5977C4"/>
      </a:hlink>
      <a:folHlink>
        <a:srgbClr val="A1A9BF"/>
      </a:folHlink>
    </a:clrScheme>
    <a:fontScheme name="Gallery">
      <a:majorFont>
        <a:latin typeface="Century Gothic" panose="020B0502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  <a:lumMod val="108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E050AC27-895F-4B90-991D-A6818FC89AB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419</TotalTime>
  <Words>441</Words>
  <Application>Microsoft Office PowerPoint</Application>
  <PresentationFormat>Widescreen</PresentationFormat>
  <Paragraphs>110</Paragraphs>
  <Slides>21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4" baseType="lpstr">
      <vt:lpstr>Arial</vt:lpstr>
      <vt:lpstr>Century Gothic</vt:lpstr>
      <vt:lpstr>Galeria</vt:lpstr>
      <vt:lpstr>Predição da Expectativa de Vida de Pacientes Oncológicos através de Inteligência Artificial e Análise de Sobrevivência</vt:lpstr>
      <vt:lpstr>Roteiro</vt:lpstr>
      <vt:lpstr>Surveillance, Epidemiology and End Results Program - SEER</vt:lpstr>
      <vt:lpstr>Algoritmo planejado</vt:lpstr>
      <vt:lpstr>Pré-processamento</vt:lpstr>
      <vt:lpstr>Pré-processamento – Parte 1</vt:lpstr>
      <vt:lpstr>Pré-processamento – Parte 1</vt:lpstr>
      <vt:lpstr>Pré-processamento – Parte 2</vt:lpstr>
      <vt:lpstr>Pré-processamento – Parte 3</vt:lpstr>
      <vt:lpstr>Pré-processamento – Retoques</vt:lpstr>
      <vt:lpstr>Pré-processamento – Variáveis Categóricas</vt:lpstr>
      <vt:lpstr>Treinamento do Algoritmo</vt:lpstr>
      <vt:lpstr>Treinamento do Algoritmo - Hiperparâmetros</vt:lpstr>
      <vt:lpstr>Treinamento do Algoritmo - Hiperparâmetros</vt:lpstr>
      <vt:lpstr>Treinamento do Algoritmo - Hiperparâmetros</vt:lpstr>
      <vt:lpstr>Resultados Obtidos – Algoritmo Geral</vt:lpstr>
      <vt:lpstr>Resultados Obtidos – Algoritmo Geral</vt:lpstr>
      <vt:lpstr>Resultados Obtidos – Algoritmo para Mama</vt:lpstr>
      <vt:lpstr>Resultados Obtidos – Algoritmo para Mama</vt:lpstr>
      <vt:lpstr>Atividades Futuras</vt:lpstr>
      <vt:lpstr>Obrigado!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Sérgio Filho</dc:creator>
  <cp:lastModifiedBy>Sérgio Filho</cp:lastModifiedBy>
  <cp:revision>29</cp:revision>
  <dcterms:created xsi:type="dcterms:W3CDTF">2020-04-28T23:57:20Z</dcterms:created>
  <dcterms:modified xsi:type="dcterms:W3CDTF">2020-05-01T19:10:19Z</dcterms:modified>
</cp:coreProperties>
</file>